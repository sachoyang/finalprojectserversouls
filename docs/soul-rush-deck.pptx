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1051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2661F"/>
                </a:solidFill>
              </a:rPr>
              <a:t>00  ·  PROJECT DOSSIER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41D14"/>
                </a:solidFill>
              </a:rPr>
              <a:t>SOUL RUSH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36192"/>
            <a:ext cx="1463040" cy="25603"/>
          </a:xfrm>
          <a:prstGeom prst="rect">
            <a:avLst/>
          </a:prstGeom>
          <a:solidFill>
            <a:srgbClr val="92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1094415" cy="2011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5C5140"/>
                </a:solidFill>
              </a:rPr>
              <a:t>멀티플레이(3인) 로그라이크 보스러시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241D14"/>
                </a:solidFill>
              </a:rPr>
              <a:t>· 양평화 · 팀장 / 서버·보스·맵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241D14"/>
                </a:solidFill>
              </a:rPr>
              <a:t>· 임현빈 · 플레이어·스킬 시스템·카메라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241D14"/>
                </a:solidFill>
              </a:rPr>
              <a:t>· 이주영 · UI/UX·사운드</a:t>
            </a:r>
          </a:p>
        </p:txBody>
      </p:sp>
      <p:pic>
        <p:nvPicPr>
          <p:cNvPr id="6" name="Picture 5" descr="00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880" y="4114800"/>
            <a:ext cx="4279934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1051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2661F"/>
                </a:solidFill>
              </a:rPr>
              <a:t>01  ·  TEAM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41D14"/>
                </a:solidFill>
              </a:rPr>
              <a:t>팀원 소개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36192"/>
            <a:ext cx="1463040" cy="25603"/>
          </a:xfrm>
          <a:prstGeom prst="rect">
            <a:avLst/>
          </a:prstGeom>
          <a:solidFill>
            <a:srgbClr val="92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55648"/>
            <a:ext cx="6656649" cy="46908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1" i="0">
                <a:solidFill>
                  <a:srgbClr val="241D14"/>
                </a:solidFill>
              </a:rPr>
              <a:t>양평화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92661F"/>
                </a:solidFill>
              </a:rPr>
              <a:t>팀장 · 서버 / 보스 / 맵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50" b="0" i="0">
                <a:solidFill>
                  <a:srgbClr val="5C5140"/>
                </a:solidFill>
              </a:rPr>
              <a:t>•  Photon 방 생성·참가, 백엔드(Apache·PHP·MySQL) 연동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50" b="0" i="0">
                <a:solidFill>
                  <a:srgbClr val="5C5140"/>
                </a:solidFill>
              </a:rPr>
              <a:t>•  보스 AI·패턴 모듈, 채팅·전투 결과·사운드 매니저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00" b="0" i="1">
                <a:solidFill>
                  <a:srgbClr val="5C5140"/>
                </a:solidFill>
              </a:rPr>
              <a:t>git: peace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1" i="0">
                <a:solidFill>
                  <a:srgbClr val="241D14"/>
                </a:solidFill>
              </a:rPr>
              <a:t>임현빈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92661F"/>
                </a:solidFill>
              </a:rPr>
              <a:t>플레이어 / 스킬 시스템 / 카메라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50" b="0" i="0">
                <a:solidFill>
                  <a:srgbClr val="5C5140"/>
                </a:solidFill>
              </a:rPr>
              <a:t>•  조작·전투·락온·카메라, 컷신 3종 연출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50" b="0" i="0">
                <a:solidFill>
                  <a:srgbClr val="5C5140"/>
                </a:solidFill>
              </a:rPr>
              <a:t>•  스킬 모듈 시스템(Active/Passive/Utility)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00" b="0" i="1">
                <a:solidFill>
                  <a:srgbClr val="5C5140"/>
                </a:solidFill>
              </a:rPr>
              <a:t>git: hyunbin802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1" i="0">
                <a:solidFill>
                  <a:srgbClr val="241D14"/>
                </a:solidFill>
              </a:rPr>
              <a:t>이주영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92661F"/>
                </a:solidFill>
              </a:rPr>
              <a:t>UI/UX · 사운드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50" b="0" i="0">
                <a:solidFill>
                  <a:srgbClr val="5C5140"/>
                </a:solidFill>
              </a:rPr>
              <a:t>•  HUD·인벤토리·락온 UI, 로비/타이틀 설계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50" b="0" i="0">
                <a:solidFill>
                  <a:srgbClr val="5C5140"/>
                </a:solidFill>
              </a:rPr>
              <a:t>•  항복 투표·게임오버 화면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00" b="0" i="1">
                <a:solidFill>
                  <a:srgbClr val="5C5140"/>
                </a:solidFill>
              </a:rPr>
              <a:t>git: desktop</a:t>
            </a:r>
          </a:p>
        </p:txBody>
      </p:sp>
      <p:pic>
        <p:nvPicPr>
          <p:cNvPr id="6" name="Picture 5" descr="01-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329" y="1755648"/>
            <a:ext cx="4117726" cy="23143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1051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2661F"/>
                </a:solidFill>
              </a:rPr>
              <a:t>02  ·  GAME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41D14"/>
                </a:solidFill>
              </a:rPr>
              <a:t>게임 소개 — 핵심 컨셉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36192"/>
            <a:ext cx="1463040" cy="25603"/>
          </a:xfrm>
          <a:prstGeom prst="rect">
            <a:avLst/>
          </a:prstGeom>
          <a:solidFill>
            <a:srgbClr val="92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55648"/>
            <a:ext cx="6656649" cy="46908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92661F"/>
                </a:solidFill>
              </a:rPr>
              <a:t>핵심 컨셉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솔로 플레이 &amp; 멀티 플레이(최대 3인 협동 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전투는 기본적인 소울라이크 — 구르기 회피 · 패링 · 스태미나 기반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보스 클리어 시 능력(스킬)을 골라 강해지는 뱀파이어 서바이벌류의 성장 재미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보스러시 구조 — 던전/전투방을 옮겨가며 연속으로 보스와 싸운다</a:t>
            </a:r>
          </a:p>
        </p:txBody>
      </p:sp>
      <p:pic>
        <p:nvPicPr>
          <p:cNvPr id="6" name="Picture 5" descr="e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3940" y="1755648"/>
            <a:ext cx="2560502" cy="1441703"/>
          </a:xfrm>
          <a:prstGeom prst="rect">
            <a:avLst/>
          </a:prstGeom>
        </p:spPr>
      </p:pic>
      <p:pic>
        <p:nvPicPr>
          <p:cNvPr id="7" name="Picture 6" descr="뱀서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0470" y="3380231"/>
            <a:ext cx="2667444" cy="1441703"/>
          </a:xfrm>
          <a:prstGeom prst="rect">
            <a:avLst/>
          </a:prstGeom>
        </p:spPr>
      </p:pic>
      <p:pic>
        <p:nvPicPr>
          <p:cNvPr id="8" name="Picture 7" descr="로비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021" y="5004815"/>
            <a:ext cx="2860340" cy="14417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1051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2661F"/>
                </a:solidFill>
              </a:rPr>
              <a:t>03  ·  GAME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41D14"/>
                </a:solidFill>
              </a:rPr>
              <a:t>로그라이크 규칙 &amp; 핵심 루프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36192"/>
            <a:ext cx="1463040" cy="25603"/>
          </a:xfrm>
          <a:prstGeom prst="rect">
            <a:avLst/>
          </a:prstGeom>
          <a:solidFill>
            <a:srgbClr val="92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55648"/>
            <a:ext cx="6656649" cy="46908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92661F"/>
                </a:solidFill>
              </a:rPr>
              <a:t>로그라이크 규칙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다음 보스로 이동, 보스 레이드 최대 8판 (추후 변경 가능)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특수 능력은 해금 조건 달성 / 다회차 플레이로 영구 해금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한 판(런) 종료 시 런 중 획득 능력은 초기화 , 계정 해금 상태는 유지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랭킹(클리어 시간) 존재 — 팀 단위 기록 경쟁</a:t>
            </a:r>
          </a:p>
          <a:p>
            <a:pPr algn="l">
              <a:spcBef>
                <a:spcPts val="800"/>
              </a:spcBef>
              <a:spcAft>
                <a:spcPts val="300"/>
              </a:spcAft>
            </a:pPr>
            <a:r>
              <a:rPr sz="1500" b="1" i="0">
                <a:solidFill>
                  <a:srgbClr val="92661F"/>
                </a:solidFill>
              </a:rPr>
              <a:t>핵심 게임 루프</a:t>
            </a:r>
          </a:p>
        </p:txBody>
      </p:sp>
      <p:pic>
        <p:nvPicPr>
          <p:cNvPr id="6" name="Picture 5" descr="02b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329" y="1755648"/>
            <a:ext cx="4117726" cy="31454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1051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2661F"/>
                </a:solidFill>
              </a:rPr>
              <a:t>04  ·  STACK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41D14"/>
                </a:solidFill>
              </a:rPr>
              <a:t>기술 스택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36192"/>
            <a:ext cx="1463040" cy="25603"/>
          </a:xfrm>
          <a:prstGeom prst="rect">
            <a:avLst/>
          </a:prstGeom>
          <a:solidFill>
            <a:srgbClr val="92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55648"/>
          <a:ext cx="6656649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324"/>
                <a:gridCol w="3328325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영역</a:t>
                      </a:r>
                    </a:p>
                  </a:txBody>
                  <a:tcPr marT="18288" marB="18288" marL="54864" marR="54864" anchor="ctr">
                    <a:solidFill>
                      <a:srgbClr val="9266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기술</a:t>
                      </a:r>
                    </a:p>
                  </a:txBody>
                  <a:tcPr marT="18288" marB="18288" marL="54864" marR="54864" anchor="ctr">
                    <a:solidFill>
                      <a:srgbClr val="9266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41D14"/>
                          </a:solidFill>
                        </a:rPr>
                        <a:t>엔진 / 렌더링</a:t>
                      </a:r>
                    </a:p>
                  </a:txBody>
                  <a:tcPr marT="18288" marB="18288" marL="54864" marR="54864" anchor="ctr">
                    <a:solidFill>
                      <a:srgbClr val="ECE3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41D14"/>
                          </a:solidFill>
                        </a:rPr>
                        <a:t>Unity + URP</a:t>
                      </a:r>
                    </a:p>
                  </a:txBody>
                  <a:tcPr marT="18288" marB="18288" marL="54864" marR="54864" anchor="ctr">
                    <a:solidFill>
                      <a:srgbClr val="ECE3D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41D14"/>
                          </a:solidFill>
                        </a:rPr>
                        <a:t>실시간 네트워크</a:t>
                      </a:r>
                    </a:p>
                  </a:txBody>
                  <a:tcPr marT="18288" marB="18288" marL="54864" marR="54864" anchor="ctr">
                    <a:solidFill>
                      <a:srgbClr val="F6F1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41D14"/>
                          </a:solidFill>
                        </a:rPr>
                        <a:t>Photon — 호스트 권한형 동기화</a:t>
                      </a:r>
                    </a:p>
                  </a:txBody>
                  <a:tcPr marT="18288" marB="18288" marL="54864" marR="54864" anchor="ctr">
                    <a:solidFill>
                      <a:srgbClr val="F6F1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41D14"/>
                          </a:solidFill>
                        </a:rPr>
                        <a:t>백엔드 서버</a:t>
                      </a:r>
                    </a:p>
                  </a:txBody>
                  <a:tcPr marT="18288" marB="18288" marL="54864" marR="54864" anchor="ctr">
                    <a:solidFill>
                      <a:srgbClr val="ECE3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41D14"/>
                          </a:solidFill>
                        </a:rPr>
                        <a:t>Apache + PHP + MySQL — soulrush_api/ + 관리용 웹</a:t>
                      </a:r>
                    </a:p>
                  </a:txBody>
                  <a:tcPr marT="18288" marB="18288" marL="54864" marR="54864" anchor="ctr">
                    <a:solidFill>
                      <a:srgbClr val="ECE3D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41D14"/>
                          </a:solidFill>
                        </a:rPr>
                        <a:t>크래시 / 모니터링</a:t>
                      </a:r>
                    </a:p>
                  </a:txBody>
                  <a:tcPr marT="18288" marB="18288" marL="54864" marR="54864" anchor="ctr">
                    <a:solidFill>
                      <a:srgbClr val="F6F1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41D14"/>
                          </a:solidFill>
                        </a:rPr>
                        <a:t>Sentry + 자체 CrashReporter</a:t>
                      </a:r>
                    </a:p>
                  </a:txBody>
                  <a:tcPr marT="18288" marB="18288" marL="54864" marR="54864" anchor="ctr">
                    <a:solidFill>
                      <a:srgbClr val="F6F1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41D14"/>
                          </a:solidFill>
                        </a:rPr>
                        <a:t>데이터</a:t>
                      </a:r>
                    </a:p>
                  </a:txBody>
                  <a:tcPr marT="18288" marB="18288" marL="54864" marR="54864" anchor="ctr">
                    <a:solidFill>
                      <a:srgbClr val="ECE3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41D14"/>
                          </a:solidFill>
                        </a:rPr>
                        <a:t>ScriptableObject(로컬) + 서버 DB(밸런스) 하이브리드</a:t>
                      </a:r>
                    </a:p>
                  </a:txBody>
                  <a:tcPr marT="18288" marB="18288" marL="54864" marR="54864" anchor="ctr">
                    <a:solidFill>
                      <a:srgbClr val="ECE3D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242816"/>
            <a:ext cx="6656649" cy="2203703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92661F"/>
                </a:solidFill>
              </a:rPr>
              <a:t>설계 원칙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권한 분리 — 게임 상태는 서버/호스트가 확정, 클라이언트는 표시만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데이터-표시 분리 — UI는 읽기만, 직접 수정 금지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모듈화 — 보스·스킬을 SO 조립으로 양산/확장</a:t>
            </a:r>
          </a:p>
        </p:txBody>
      </p:sp>
      <p:pic>
        <p:nvPicPr>
          <p:cNvPr id="7" name="Picture 6" descr="03-tech-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329" y="1755648"/>
            <a:ext cx="4117726" cy="18803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1051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2661F"/>
                </a:solidFill>
              </a:rPr>
              <a:t>05  ·  ARCHITECTURE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41D14"/>
                </a:solidFill>
              </a:rPr>
              <a:t>전체 구조 — 게임은 두 종류의 서버와 대화한다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36192"/>
            <a:ext cx="1463040" cy="25603"/>
          </a:xfrm>
          <a:prstGeom prst="rect">
            <a:avLst/>
          </a:prstGeom>
          <a:solidFill>
            <a:srgbClr val="92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55648"/>
            <a:ext cx="11094415" cy="46908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1" i="0">
                <a:solidFill>
                  <a:srgbClr val="92661F"/>
                </a:solidFill>
              </a:rPr>
              <a:t>게임 클라이언트 · Unity · 최대 3인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200" b="0" i="0">
                <a:solidFill>
                  <a:srgbClr val="241D14"/>
                </a:solidFill>
              </a:rPr>
              <a:t>•  🎮 호스트 게임 권한 · 서버 요청 대표  ·  🎮 클라이언트 2  ·  🎮 클라이언트 3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1350" b="1" i="0">
                <a:solidFill>
                  <a:srgbClr val="7A2C1E"/>
                </a:solidFill>
              </a:rPr>
              <a:t>① 실시간 채널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1" i="0">
                <a:solidFill>
                  <a:srgbClr val="241D14"/>
                </a:solidFill>
              </a:rPr>
              <a:t>•  ☁ Photon Cloud 세션 릴레이 · 상태 동기화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1">
                <a:solidFill>
                  <a:srgbClr val="5C5140"/>
                </a:solidFill>
              </a:rPr>
              <a:t>    위치·전투를 계속 연결해 양방향 으로 즉시 동기화. 저장은 안 함(휘발).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1350" b="1" i="0">
                <a:solidFill>
                  <a:srgbClr val="7A2C1E"/>
                </a:solidFill>
              </a:rPr>
              <a:t>② 웹 API 채널 · 영속 저장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1" i="0">
                <a:solidFill>
                  <a:srgbClr val="241D14"/>
                </a:solidFill>
              </a:rPr>
              <a:t>•  🖥 Apache + PHP soulrush_api (REST)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1" i="0">
                <a:solidFill>
                  <a:srgbClr val="241D14"/>
                </a:solidFill>
              </a:rPr>
              <a:t>•  🗄 MySQL 계정 · 스킬 · 랭킹 · 크래시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1" i="0">
                <a:solidFill>
                  <a:srgbClr val="241D14"/>
                </a:solidFill>
              </a:rPr>
              <a:t>•  🛠 관리용 웹 · 대시보드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1">
                <a:solidFill>
                  <a:srgbClr val="5C5140"/>
                </a:solidFill>
              </a:rPr>
              <a:t>    계정·스킬·랭킹을 필요할 때 요청→응답 . DB에 영구 저장돼 다음 접속에도 유지.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1051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2661F"/>
                </a:solidFill>
              </a:rPr>
              <a:t>06  ·  ARCHITECTURE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41D14"/>
                </a:solidFill>
              </a:rPr>
              <a:t>실제 서버 API &amp; 통신 흐름 soulrush_api (PHP)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36192"/>
            <a:ext cx="1463040" cy="25603"/>
          </a:xfrm>
          <a:prstGeom prst="rect">
            <a:avLst/>
          </a:prstGeom>
          <a:solidFill>
            <a:srgbClr val="92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55648"/>
            <a:ext cx="11094415" cy="46908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1" i="0">
                <a:solidFill>
                  <a:srgbClr val="92661F"/>
                </a:solidFill>
              </a:rPr>
              <a:t>인증 · 세션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 i="0">
                <a:solidFill>
                  <a:srgbClr val="241D14"/>
                </a:solidFill>
              </a:rPr>
              <a:t>•  register.php · login.php — 가입 / 로그인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 i="0">
                <a:solidFill>
                  <a:srgbClr val="241D14"/>
                </a:solidFill>
              </a:rPr>
              <a:t>•  check_session.php — 15초 하트비트, 중복 로그인 차단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 i="0">
                <a:solidFill>
                  <a:srgbClr val="241D14"/>
                </a:solidFill>
              </a:rPr>
              <a:t>•  check_admin.php — 디버그 권한 검증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1" i="0">
                <a:solidFill>
                  <a:srgbClr val="92661F"/>
                </a:solidFill>
              </a:rPr>
              <a:t>스킬 (밸런스 DB)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 i="0">
                <a:solidFill>
                  <a:srgbClr val="241D14"/>
                </a:solidFill>
              </a:rPr>
              <a:t>•  get_abilities.php — 스킬 수치 카탈로그 조회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 i="0">
                <a:solidFill>
                  <a:srgbClr val="241D14"/>
                </a:solidFill>
              </a:rPr>
              <a:t>•  update_skills.php — 해금 비트마스크 저장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 i="0">
                <a:solidFill>
                  <a:srgbClr val="241D14"/>
                </a:solidFill>
              </a:rPr>
              <a:t>•  upload_ability.php — (에디터) 스킬 업로드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1" i="0">
                <a:solidFill>
                  <a:srgbClr val="92661F"/>
                </a:solidFill>
              </a:rPr>
              <a:t>랭킹 · 크래시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 i="0">
                <a:solidFill>
                  <a:srgbClr val="241D14"/>
                </a:solidFill>
              </a:rPr>
              <a:t>•  submit_ranking.php / get_rankings.php — 팀 기록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 i="0">
                <a:solidFill>
                  <a:srgbClr val="241D14"/>
                </a:solidFill>
              </a:rPr>
              <a:t>•  crash_report.php — 크래시 자동 수집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1" i="0">
                <a:solidFill>
                  <a:srgbClr val="92661F"/>
                </a:solidFill>
              </a:rPr>
              <a:t>관리용 웹 &amp; DB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 i="0">
                <a:solidFill>
                  <a:srgbClr val="241D14"/>
                </a:solidFill>
              </a:rPr>
              <a:t>•  웹 뷰어: admin_hub · crash_viewer · ranking_viewer · log_viewer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 i="0">
                <a:solidFill>
                  <a:srgbClr val="241D14"/>
                </a:solidFill>
              </a:rPr>
              <a:t>•  테이블: users · abilities (7) · team_rankings · crash_reports</a:t>
            </a:r>
          </a:p>
          <a:p>
            <a:pPr algn="l">
              <a:spcBef>
                <a:spcPts val="800"/>
              </a:spcBef>
              <a:spcAft>
                <a:spcPts val="300"/>
              </a:spcAft>
            </a:pPr>
            <a:r>
              <a:rPr sz="1500" b="1" i="0">
                <a:solidFill>
                  <a:srgbClr val="92661F"/>
                </a:solidFill>
              </a:rPr>
              <a:t>접속부터 클리어까지 — 서버 통신 흐름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1051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2661F"/>
                </a:solidFill>
              </a:rPr>
              <a:t>07  ·  PROGRESS — 임현빈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41D14"/>
                </a:solidFill>
              </a:rPr>
              <a:t>플레이어 — 조작 &amp; 전투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36192"/>
            <a:ext cx="1463040" cy="25603"/>
          </a:xfrm>
          <a:prstGeom prst="rect">
            <a:avLst/>
          </a:prstGeom>
          <a:solidFill>
            <a:srgbClr val="92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55648"/>
            <a:ext cx="6656649" cy="46908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92661F"/>
                </a:solidFill>
              </a:rPr>
              <a:t>기본 조작 &amp; 전투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3인칭 카메라 + 락온(Lock-On) — 대상/부위 우선순위 순회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이동/달리기/기기, 구르기(회피) , 점프(제자리·전방), 패링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기본 공격 콤보 시스템 (애니메이션 진행률 기반 입력 창)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루트모션 기반 스킬 이동(슬라이드/스핀/점프 어택 등)</a:t>
            </a:r>
          </a:p>
        </p:txBody>
      </p:sp>
      <p:pic>
        <p:nvPicPr>
          <p:cNvPr id="6" name="Picture 5" descr="락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329" y="1755648"/>
            <a:ext cx="4117726" cy="22569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1051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2661F"/>
                </a:solidFill>
              </a:rPr>
              <a:t>08  ·  PROGRESS — 임현빈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41D14"/>
                </a:solidFill>
              </a:rPr>
              <a:t>플레이어 — 컷신 · 부활 ·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36192"/>
            <a:ext cx="1463040" cy="25603"/>
          </a:xfrm>
          <a:prstGeom prst="rect">
            <a:avLst/>
          </a:prstGeom>
          <a:solidFill>
            <a:srgbClr val="92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55648"/>
            <a:ext cx="6656649" cy="46908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92661F"/>
                </a:solidFill>
              </a:rPr>
              <a:t>컷신 &amp; 부활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컷신 3종 — 보스 등장 · 골드 보상 상자 개봉 · 문 발차기(입장)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사망 횟수 연동 부활 시스템 — 동료를 때려 부활, 방치 시 게이지 회복</a:t>
            </a:r>
          </a:p>
          <a:p>
            <a:pPr algn="l">
              <a:spcBef>
                <a:spcPts val="800"/>
              </a:spcBef>
              <a:spcAft>
                <a:spcPts val="300"/>
              </a:spcAft>
            </a:pPr>
            <a:r>
              <a:rPr sz="1500" b="1" i="0">
                <a:solidFill>
                  <a:srgbClr val="92661F"/>
                </a:solidFill>
              </a:rPr>
              <a:t>핵심 구조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NetworkPlayerController — 입력/이동/전투/루트모션/동기화/오디오 분리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PlayerStats , PlayerStatusController — 체력·스태미나·부활, 버프/디버프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조작 잠금 플래그 — 컷신·UI가 컴포넌트를 직접 끄지 않고 잠금만 요청</a:t>
            </a:r>
          </a:p>
        </p:txBody>
      </p:sp>
      <p:pic>
        <p:nvPicPr>
          <p:cNvPr id="6" name="Picture 5" descr="부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329" y="1755648"/>
            <a:ext cx="4117726" cy="22492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1051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2661F"/>
                </a:solidFill>
              </a:rPr>
              <a:t>09  ·  PROGRESS — 임현빈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41D14"/>
                </a:solidFill>
              </a:rPr>
              <a:t>스킬 시스템 — 타입 &amp; 데이터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36192"/>
            <a:ext cx="1463040" cy="25603"/>
          </a:xfrm>
          <a:prstGeom prst="rect">
            <a:avLst/>
          </a:prstGeom>
          <a:solidFill>
            <a:srgbClr val="92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55648"/>
            <a:ext cx="6656649" cy="46908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92661F"/>
                </a:solidFill>
              </a:rPr>
              <a:t>3가지 타입 (ScriptableObject 모듈)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Active — 슬롯 장착·직접 사용. 쿨타임·스태미나·HitEvents·레벨별 데미지 배율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Passive — 획득/레벨업 시 스탯 상승(체력·스태미나·방어·공격력 %)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Utility — 회복·기본공격 해금 등 기능성</a:t>
            </a:r>
          </a:p>
          <a:p>
            <a:pPr algn="l">
              <a:spcBef>
                <a:spcPts val="800"/>
              </a:spcBef>
              <a:spcAft>
                <a:spcPts val="300"/>
              </a:spcAft>
            </a:pPr>
            <a:r>
              <a:rPr sz="1500" b="1" i="0">
                <a:solidFill>
                  <a:srgbClr val="92661F"/>
                </a:solidFill>
              </a:rPr>
              <a:t>하이브리드 데이터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연출값(애니메이션·VFX·사운드·히트박스) = Unity 로컬 에셋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밸런스 수치(쿨타임·데미지·레벨값) = 서버 DB — 로그인 시 최신화, Bake로 에셋 갱신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AbilityManager 가 전체 카탈로그 관리</a:t>
            </a:r>
          </a:p>
        </p:txBody>
      </p:sp>
      <p:pic>
        <p:nvPicPr>
          <p:cNvPr id="6" name="Picture 5" descr="05-2a-sk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329" y="1755648"/>
            <a:ext cx="4117726" cy="37500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1051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2661F"/>
                </a:solidFill>
              </a:rPr>
              <a:t>10  ·  PROGRESS — 임현빈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41D14"/>
                </a:solidFill>
              </a:rPr>
              <a:t>스킬 시스템 — 계정 해금 &amp; 획득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36192"/>
            <a:ext cx="1463040" cy="25603"/>
          </a:xfrm>
          <a:prstGeom prst="rect">
            <a:avLst/>
          </a:prstGeom>
          <a:solidFill>
            <a:srgbClr val="92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55648"/>
            <a:ext cx="6656649" cy="46908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92661F"/>
                </a:solidFill>
              </a:rPr>
              <a:t>계정 해금 (비트마스크)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Active 1–19 / Passive 20–39 / Utility 40–60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계정별 비트마스크로 영구 해금 관리</a:t>
            </a:r>
          </a:p>
          <a:p>
            <a:pPr algn="l">
              <a:spcBef>
                <a:spcPts val="800"/>
              </a:spcBef>
              <a:spcAft>
                <a:spcPts val="300"/>
              </a:spcAft>
            </a:pPr>
            <a:r>
              <a:rPr sz="1500" b="1" i="0">
                <a:solidFill>
                  <a:srgbClr val="92661F"/>
                </a:solidFill>
              </a:rPr>
              <a:t>획득 &amp; 레벨업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보스 처치 → RewardManager 카드 후보 생성 → 하나 선택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등록/레벨업 — Lv.1 → MaxLevel, 만렙 시 보상 후보 제외</a:t>
            </a:r>
          </a:p>
        </p:txBody>
      </p:sp>
      <p:pic>
        <p:nvPicPr>
          <p:cNvPr id="6" name="Picture 5" descr="05-2-sk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329" y="1755648"/>
            <a:ext cx="4117726" cy="23143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1051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2661F"/>
                </a:solidFill>
              </a:rPr>
              <a:t>11  ·  PROGRESS — 양평화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41D14"/>
                </a:solidFill>
              </a:rPr>
              <a:t>보스 시스템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36192"/>
            <a:ext cx="1463040" cy="25603"/>
          </a:xfrm>
          <a:prstGeom prst="rect">
            <a:avLst/>
          </a:prstGeom>
          <a:solidFill>
            <a:srgbClr val="92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55648"/>
            <a:ext cx="6656649" cy="46908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92661F"/>
                </a:solidFill>
              </a:rPr>
              <a:t>보스 AI &amp; 패턴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보스 움직임 + 레이캐스트로 벽/바닥 판정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행동 패턴을 조합하는 SO 패턴 모듈 — 코드 없이 제작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BossVisual(연출) ↔ Boss 스크립트(로직) 분리 ( IBossVisual 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NetworkBossCore — 체력 50%↓ 자동 2페이즈(광폭화)</a:t>
            </a:r>
          </a:p>
          <a:p>
            <a:pPr algn="l">
              <a:spcBef>
                <a:spcPts val="800"/>
              </a:spcBef>
              <a:spcAft>
                <a:spcPts val="300"/>
              </a:spcAft>
            </a:pPr>
            <a:r>
              <a:rPr sz="1500" b="1" i="0">
                <a:solidFill>
                  <a:srgbClr val="92661F"/>
                </a:solidFill>
              </a:rPr>
              <a:t>최근 개선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어그로 추적 — 10초 누적 딜량 1위에게 어그로 변경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BossAoEAttack — 파티클 동기화 장판, 다단 히트 &amp; 겹친 장판 중복 방지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보스 예시: Dragon(화염) · PolarDragon(빙결) · OrcAssassin</a:t>
            </a:r>
          </a:p>
        </p:txBody>
      </p:sp>
      <p:pic>
        <p:nvPicPr>
          <p:cNvPr id="6" name="Picture 5" descr="05-3-b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329" y="1755648"/>
            <a:ext cx="4117726" cy="40946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1051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2661F"/>
                </a:solidFill>
              </a:rPr>
              <a:t>12  ·  PROGRESS — 양평화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41D14"/>
                </a:solidFill>
              </a:rPr>
              <a:t>로그라이크 진행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36192"/>
            <a:ext cx="1463040" cy="25603"/>
          </a:xfrm>
          <a:prstGeom prst="rect">
            <a:avLst/>
          </a:prstGeom>
          <a:solidFill>
            <a:srgbClr val="92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55648"/>
            <a:ext cx="6656649" cy="46908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92661F"/>
                </a:solidFill>
              </a:rPr>
              <a:t>3단 매니저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층수 관리 · 다음 보스 랜덤 추첨 · 파티 이동 · 층수 비례 난이도 상승</a:t>
            </a:r>
          </a:p>
          <a:p>
            <a:pPr algn="l">
              <a:spcBef>
                <a:spcPts val="800"/>
              </a:spcBef>
              <a:spcAft>
                <a:spcPts val="300"/>
              </a:spcAft>
            </a:pPr>
            <a:r>
              <a:rPr sz="1500" b="1" i="0">
                <a:solidFill>
                  <a:srgbClr val="92661F"/>
                </a:solidFill>
              </a:rPr>
              <a:t>부가 요소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NextLevelPortal — 다음 층 이동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HealingAltar — 회복 제단 기믹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새 보스 추가 = SO 등록 + 맵 배치만 (코드 불필요)</a:t>
            </a:r>
          </a:p>
        </p:txBody>
      </p:sp>
      <p:pic>
        <p:nvPicPr>
          <p:cNvPr id="6" name="Picture 5" descr="05-3b-rogueli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329" y="1755648"/>
            <a:ext cx="4117726" cy="23025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1051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2661F"/>
                </a:solidFill>
              </a:rPr>
              <a:t>13  ·  PROGRESS — 양평화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41D14"/>
                </a:solidFill>
              </a:rPr>
              <a:t>서버 &amp; 인게임 시스템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36192"/>
            <a:ext cx="1463040" cy="25603"/>
          </a:xfrm>
          <a:prstGeom prst="rect">
            <a:avLst/>
          </a:prstGeom>
          <a:solidFill>
            <a:srgbClr val="92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55648"/>
            <a:ext cx="6656649" cy="46908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92661F"/>
                </a:solidFill>
              </a:rPr>
              <a:t>서버 &amp; 맵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Photon 방 생성/참가 — UI와 연동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로그인 DB 연동 , 로그·DB 테이블 확인용 웹 구현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웹에서 DB · 스킬수치 · 랭킹 · 크래시 리포트 관리</a:t>
            </a:r>
          </a:p>
          <a:p>
            <a:pPr algn="l">
              <a:spcBef>
                <a:spcPts val="800"/>
              </a:spcBef>
              <a:spcAft>
                <a:spcPts val="300"/>
              </a:spcAft>
            </a:pPr>
            <a:r>
              <a:rPr sz="1500" b="1" i="0">
                <a:solidFill>
                  <a:srgbClr val="92661F"/>
                </a:solidFill>
              </a:rPr>
              <a:t>서버 담당 인게임 시스템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인게임 채팅 (ChatManager) — 엔터로 토글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전투 결과 / 임시 엔딩 (scEnding) — 소요시간·팀 랭킹 연동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사운드 매니저 (SoundManager) — 카테고리별 볼륨/거리, 3D SFX·루프</a:t>
            </a:r>
          </a:p>
        </p:txBody>
      </p:sp>
      <p:pic>
        <p:nvPicPr>
          <p:cNvPr id="6" name="Picture 5" descr="05-4a-ser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9535" y="1755648"/>
            <a:ext cx="2629313" cy="46908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1051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2661F"/>
                </a:solidFill>
              </a:rPr>
              <a:t>14  ·  PROGRESS — 양평화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41D14"/>
                </a:solidFill>
              </a:rPr>
              <a:t>백엔드 엔드포인트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36192"/>
            <a:ext cx="1463040" cy="25603"/>
          </a:xfrm>
          <a:prstGeom prst="rect">
            <a:avLst/>
          </a:prstGeom>
          <a:solidFill>
            <a:srgbClr val="92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55648"/>
          <a:ext cx="6656649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324"/>
                <a:gridCol w="3328325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시스템</a:t>
                      </a:r>
                    </a:p>
                  </a:txBody>
                  <a:tcPr marT="18288" marB="18288" marL="54864" marR="54864" anchor="ctr">
                    <a:solidFill>
                      <a:srgbClr val="9266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marT="18288" marB="18288" marL="54864" marR="54864" anchor="ctr">
                    <a:solidFill>
                      <a:srgbClr val="9266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41D14"/>
                          </a:solidFill>
                        </a:rPr>
                        <a:t>로그인/세션</a:t>
                      </a:r>
                    </a:p>
                  </a:txBody>
                  <a:tcPr marT="18288" marB="18288" marL="54864" marR="54864" anchor="ctr">
                    <a:solidFill>
                      <a:srgbClr val="ECE3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41D14"/>
                          </a:solidFill>
                        </a:rPr>
                        <a:t>login.php , check_session.php , update_skills.php</a:t>
                      </a:r>
                    </a:p>
                  </a:txBody>
                  <a:tcPr marT="18288" marB="18288" marL="54864" marR="54864" anchor="ctr">
                    <a:solidFill>
                      <a:srgbClr val="ECE3D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41D14"/>
                          </a:solidFill>
                        </a:rPr>
                        <a:t>스킬 DB</a:t>
                      </a:r>
                    </a:p>
                  </a:txBody>
                  <a:tcPr marT="18288" marB="18288" marL="54864" marR="54864" anchor="ctr">
                    <a:solidFill>
                      <a:srgbClr val="F6F1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41D14"/>
                          </a:solidFill>
                        </a:rPr>
                        <a:t>get_abilities.php , upload_ability.php — 스킬모듈 ↔ 서버 연결 구조 (공통1+타입별6=7 테이블)</a:t>
                      </a:r>
                    </a:p>
                  </a:txBody>
                  <a:tcPr marT="18288" marB="18288" marL="54864" marR="54864" anchor="ctr">
                    <a:solidFill>
                      <a:srgbClr val="F6F1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41D14"/>
                          </a:solidFill>
                        </a:rPr>
                        <a:t>팀 랭킹</a:t>
                      </a:r>
                    </a:p>
                  </a:txBody>
                  <a:tcPr marT="18288" marB="18288" marL="54864" marR="54864" anchor="ctr">
                    <a:solidFill>
                      <a:srgbClr val="ECE3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41D14"/>
                          </a:solidFill>
                        </a:rPr>
                        <a:t>submit_ranking.php — 소요시간 정렬 + 팀원 딜량</a:t>
                      </a:r>
                    </a:p>
                  </a:txBody>
                  <a:tcPr marT="18288" marB="18288" marL="54864" marR="54864" anchor="ctr">
                    <a:solidFill>
                      <a:srgbClr val="ECE3D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41D14"/>
                          </a:solidFill>
                        </a:rPr>
                        <a:t>Admin 권한</a:t>
                      </a:r>
                    </a:p>
                  </a:txBody>
                  <a:tcPr marT="18288" marB="18288" marL="54864" marR="54864" anchor="ctr">
                    <a:solidFill>
                      <a:srgbClr val="F6F1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41D14"/>
                          </a:solidFill>
                        </a:rPr>
                        <a:t>is_admin — 서버가 권위 판정</a:t>
                      </a:r>
                    </a:p>
                  </a:txBody>
                  <a:tcPr marT="18288" marB="18288" marL="54864" marR="54864" anchor="ctr">
                    <a:solidFill>
                      <a:srgbClr val="F6F1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41D14"/>
                          </a:solidFill>
                        </a:rPr>
                        <a:t>크래시 리포트</a:t>
                      </a:r>
                    </a:p>
                  </a:txBody>
                  <a:tcPr marT="18288" marB="18288" marL="54864" marR="54864" anchor="ctr">
                    <a:solidFill>
                      <a:srgbClr val="ECE3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41D14"/>
                          </a:solidFill>
                        </a:rPr>
                        <a:t>exception/unhandled/native_crash, 선저장 후 재전송</a:t>
                      </a:r>
                    </a:p>
                  </a:txBody>
                  <a:tcPr marT="18288" marB="18288" marL="54864" marR="54864" anchor="ctr">
                    <a:solidFill>
                      <a:srgbClr val="ECE3D1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05-4-ser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6443" y="1755648"/>
            <a:ext cx="3635496" cy="1441703"/>
          </a:xfrm>
          <a:prstGeom prst="rect">
            <a:avLst/>
          </a:prstGeom>
        </p:spPr>
      </p:pic>
      <p:pic>
        <p:nvPicPr>
          <p:cNvPr id="7" name="Picture 6" descr="서버스샷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7242" y="3380231"/>
            <a:ext cx="3093900" cy="1441703"/>
          </a:xfrm>
          <a:prstGeom prst="rect">
            <a:avLst/>
          </a:prstGeom>
        </p:spPr>
      </p:pic>
      <p:pic>
        <p:nvPicPr>
          <p:cNvPr id="8" name="Picture 7" descr="서버스샷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1637" y="5004815"/>
            <a:ext cx="2565109" cy="144170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1051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2661F"/>
                </a:solidFill>
              </a:rPr>
              <a:t>15  ·  PROGRESS — 이주영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41D14"/>
                </a:solidFill>
              </a:rPr>
              <a:t>인게임 · UI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36192"/>
            <a:ext cx="1463040" cy="25603"/>
          </a:xfrm>
          <a:prstGeom prst="rect">
            <a:avLst/>
          </a:prstGeom>
          <a:solidFill>
            <a:srgbClr val="92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55648"/>
            <a:ext cx="6656649" cy="46908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92661F"/>
                </a:solidFill>
              </a:rPr>
              <a:t>인게임 UI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플레이어 HUD — 체력/스태미나/스킬 슬롯/버프·디버프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인벤토리 (카드+툴팁), 스킬 아이콘 , 락온 UI</a:t>
            </a:r>
          </a:p>
          <a:p>
            <a:pPr algn="l">
              <a:spcBef>
                <a:spcPts val="800"/>
              </a:spcBef>
              <a:spcAft>
                <a:spcPts val="300"/>
              </a:spcAft>
            </a:pPr>
            <a:r>
              <a:rPr sz="1500" b="1" i="0">
                <a:solidFill>
                  <a:srgbClr val="92661F"/>
                </a:solidFill>
              </a:rPr>
              <a:t>로비 &amp; 결과 UI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로비·타이틀 설계, 인게임 옵션(그래픽·사운드)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항복 투표 · 게임오버 화면</a:t>
            </a:r>
          </a:p>
        </p:txBody>
      </p:sp>
      <p:pic>
        <p:nvPicPr>
          <p:cNvPr id="6" name="Picture 5" descr="05-5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4631" y="1755648"/>
            <a:ext cx="3999121" cy="2253996"/>
          </a:xfrm>
          <a:prstGeom prst="rect">
            <a:avLst/>
          </a:prstGeom>
        </p:spPr>
      </p:pic>
      <p:pic>
        <p:nvPicPr>
          <p:cNvPr id="7" name="Picture 6" descr="옵션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533" y="4192524"/>
            <a:ext cx="4103317" cy="225399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1051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2661F"/>
                </a:solidFill>
              </a:rPr>
              <a:t>16  ·  DEMO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41D14"/>
                </a:solidFill>
              </a:rPr>
              <a:t>Game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36192"/>
            <a:ext cx="1463040" cy="25603"/>
          </a:xfrm>
          <a:prstGeom prst="rect">
            <a:avLst/>
          </a:prstGeom>
          <a:solidFill>
            <a:srgbClr val="92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43883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600" b="0" i="1">
                <a:solidFill>
                  <a:srgbClr val="5C5140"/>
                </a:solidFill>
              </a:rPr>
              <a:t>🎬 데모 영상 — 발표 시 원본 덱 / 영상 파일로 재생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1051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2661F"/>
                </a:solidFill>
              </a:rPr>
              <a:t>17  ·  OPTIMIZATION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41D14"/>
                </a:solidFill>
              </a:rPr>
              <a:t>최적화 &amp; 안정성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36192"/>
            <a:ext cx="1463040" cy="25603"/>
          </a:xfrm>
          <a:prstGeom prst="rect">
            <a:avLst/>
          </a:prstGeom>
          <a:solidFill>
            <a:srgbClr val="92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55648"/>
            <a:ext cx="6656649" cy="46908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92661F"/>
                </a:solidFill>
              </a:rPr>
              <a:t>런타임 성능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이펙트 풀 + 셰이더 예열 — 첫 이펙트 렌더 끊김 제거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라이트맵 베이크 전환 — 실시간 라이팅 → 사전 베이크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맵 콜라이더 최적화 — 메시→박스 콜라이더, 인접 병합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품질 등급 Low/Medium/High 분리 관리</a:t>
            </a:r>
          </a:p>
          <a:p>
            <a:pPr algn="l">
              <a:spcBef>
                <a:spcPts val="800"/>
              </a:spcBef>
              <a:spcAft>
                <a:spcPts val="300"/>
              </a:spcAft>
            </a:pPr>
            <a:r>
              <a:rPr sz="1500" b="1" i="0">
                <a:solidFill>
                  <a:srgbClr val="92661F"/>
                </a:solidFill>
              </a:rPr>
              <a:t>빌드 &amp; 안정성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셰이더 배리언트 정리 — 빌드 3시간+ → 10분 미만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Sentry 크래시 자동 수집(네이티브 크래시 포함)</a:t>
            </a:r>
          </a:p>
        </p:txBody>
      </p:sp>
      <p:pic>
        <p:nvPicPr>
          <p:cNvPr id="6" name="Picture 5" descr="서버스샷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329" y="1755648"/>
            <a:ext cx="4117726" cy="231434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1051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2661F"/>
                </a:solidFill>
              </a:rPr>
              <a:t>18  ·  FUTURE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41D14"/>
                </a:solidFill>
              </a:rPr>
              <a:t>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36192"/>
            <a:ext cx="1463040" cy="25603"/>
          </a:xfrm>
          <a:prstGeom prst="rect">
            <a:avLst/>
          </a:prstGeom>
          <a:solidFill>
            <a:srgbClr val="92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55648"/>
            <a:ext cx="11094415" cy="46908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92661F"/>
                </a:solidFill>
              </a:rPr>
              <a:t>향후 계획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플레이어 직업 추가(무기)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인간형 보스 패턴 추가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튜토리얼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41D14"/>
                </a:solidFill>
              </a:rPr>
              <a:t>•  보스 전투방 추가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1051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2661F"/>
                </a:solidFill>
              </a:rPr>
              <a:t>19  ·  CLOSING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41D14"/>
                </a:solidFill>
              </a:rPr>
              <a:t>Q&amp;A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36192"/>
            <a:ext cx="1463040" cy="25603"/>
          </a:xfrm>
          <a:prstGeom prst="rect">
            <a:avLst/>
          </a:prstGeom>
          <a:solidFill>
            <a:srgbClr val="92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43883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600" b="0" i="1">
                <a:solidFill>
                  <a:srgbClr val="5C5140"/>
                </a:solidFill>
              </a:rPr>
              <a:t>발표 시 구두 설명 / 원본 덱 참고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